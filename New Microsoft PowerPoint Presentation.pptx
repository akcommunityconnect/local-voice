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00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33F71-2C74-4630-9475-D5C015345C1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9E6CD-AA71-4AAF-B3AC-2AA100F5D7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43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59E6CD-AA71-4AAF-B3AC-2AA100F5D7C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98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CB4E-46F0-E67F-CEC9-DAED62F9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6E7A4-1593-AF1E-BB40-511E41063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A167A-1E61-1CE4-2427-26C1B5AC0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96DF6-C4D6-78EF-491C-8D2D3A9EE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F44F1-8F6F-93ED-FE93-E746C4DB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14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8D20-5BC2-EFAA-879A-029ED7FE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D5560-EBB4-19B0-5B00-C319EE034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12AAB-1840-1B5E-0CA4-F0DAB13F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5D1D-87D7-D902-9AA8-35003703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0E1D6-2CBD-4BEC-11A2-CDD7BC25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99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4875-AABB-383C-0ED0-9BED3125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6D399-5C25-8505-C0DC-7CF674075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933D0-C1A4-5F90-6810-AB670EA6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A1DD-45E6-06A5-8A97-0623C964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0B32D-D23F-A8AF-E152-9C379650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27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30DC-0F05-2F84-EBC2-63A6A8A0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88F5-AEF6-7EBA-35AB-1D3D33190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C79CA-9D68-63B0-9630-FC778AF0C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B4A49-7509-363B-492C-70CD8F16C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C7A45-2B63-06A0-F5EA-FF443180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C6376-59F7-65B5-676D-6A041FB00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33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2A36-5CAD-B7F0-7080-3B8B7952C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0B73C-B171-8EA3-55EA-A3ABD8360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DF30F-3245-9555-2D97-9A0A4F3CB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2C901-ADB2-363E-2196-82BE2036A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99A2-B73B-9054-AEDA-0662BC930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3088A-5DC8-BC50-931A-9212520B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61B9C-9400-B6BC-5B6E-8E6F68B4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07E957-2955-5D3A-ED0A-FFE6E0F7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3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B16D-7053-A6EB-2A24-2104A990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DC323-FB33-688F-A963-E2A31D0D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D8ECE-A824-84EA-EBD1-06FDD29E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5882F-E0D5-DDE9-7F48-3901738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60F80-127A-7E8F-D01A-D40869C6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F4341-1675-91F2-5E50-6743079F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3B08E-CDA9-EBF1-BC47-B840BC1C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5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536F-0EBF-E629-6CF9-D3E554B9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8993B-02A5-1362-580B-95B2FACF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AF929-757C-D526-32C8-A12A148EF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6A93A-711F-E578-869D-2619178B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F1B43-3657-E931-8442-1D2964B3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3022B-D6F6-B83F-DAFC-CECD6AA8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60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F80C-3F4F-257B-F882-9C6C67E7A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7B8FE-C01D-4EE3-3439-A53A62999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A6BF3-0EBE-0B0C-5BE5-90BEF60CE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7D5C5-AD3B-5C09-8524-8B416F51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A00B7-5A8C-0C88-7EEC-82212B29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3DDED-4B71-50EC-A9D2-EAEE7B92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57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4B8C-926C-389E-FCC5-63F38F03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F89B6-380F-4C56-5A3A-6575A7489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706C8-61A9-5F22-76CE-49CB7D41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6921B-8840-EE03-611A-8160E8A8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584A-7173-42D0-5A61-C08F0E33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98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B89D0-E637-1D87-F5E5-6CAD28670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CB845-D3E5-B63D-CF30-D2EE0356B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D95DD-BBD1-3771-7B33-DC9E972F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2BEBD-4C9C-4EA9-EDC3-21F14BAA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68069-9325-E146-FB38-57F861A6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9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B71B04-5DF7-CC82-FFEE-DAD1A2FCA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8353D-6AB3-D8BD-13BC-E615EF00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8817D-837C-D94C-E105-441C563C7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D997E-35C2-4278-BBF7-F3665525F9CC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741C4-048D-C30A-923A-E0985DDBB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180BF-8DCB-2CA2-58F0-8504E3546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DC074-7237-46DB-A1BA-624C58E44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1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12AFFE-CF0C-EAD8-89B2-0026AF9BF187}"/>
              </a:ext>
            </a:extLst>
          </p:cNvPr>
          <p:cNvSpPr/>
          <p:nvPr/>
        </p:nvSpPr>
        <p:spPr>
          <a:xfrm>
            <a:off x="1548580" y="1474839"/>
            <a:ext cx="9094839" cy="468998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B025B-5186-7814-66ED-859773E52BB5}"/>
              </a:ext>
            </a:extLst>
          </p:cNvPr>
          <p:cNvSpPr/>
          <p:nvPr/>
        </p:nvSpPr>
        <p:spPr>
          <a:xfrm>
            <a:off x="0" y="0"/>
            <a:ext cx="12192000" cy="147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5393F3-3999-5A81-5B3D-EEEB16580A05}"/>
              </a:ext>
            </a:extLst>
          </p:cNvPr>
          <p:cNvSpPr/>
          <p:nvPr/>
        </p:nvSpPr>
        <p:spPr>
          <a:xfrm>
            <a:off x="2482644" y="1877961"/>
            <a:ext cx="7226710" cy="717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What’s the problem?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D42A30-AABA-D458-90E6-ECB3CCF1C9BE}"/>
              </a:ext>
            </a:extLst>
          </p:cNvPr>
          <p:cNvSpPr/>
          <p:nvPr/>
        </p:nvSpPr>
        <p:spPr>
          <a:xfrm>
            <a:off x="2482644" y="2674374"/>
            <a:ext cx="7226710" cy="3116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9FCE1A-9376-69A8-C1C4-81C26EE479EF}"/>
              </a:ext>
            </a:extLst>
          </p:cNvPr>
          <p:cNvSpPr/>
          <p:nvPr/>
        </p:nvSpPr>
        <p:spPr>
          <a:xfrm>
            <a:off x="8672051" y="3775587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499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9F7134-8675-64EC-6AD8-CCBA605D4F8A}"/>
              </a:ext>
            </a:extLst>
          </p:cNvPr>
          <p:cNvSpPr/>
          <p:nvPr/>
        </p:nvSpPr>
        <p:spPr>
          <a:xfrm>
            <a:off x="7000569" y="2241753"/>
            <a:ext cx="4326194" cy="31463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83E448-02D7-8516-6DE4-450D65DCCF17}"/>
              </a:ext>
            </a:extLst>
          </p:cNvPr>
          <p:cNvSpPr/>
          <p:nvPr/>
        </p:nvSpPr>
        <p:spPr>
          <a:xfrm>
            <a:off x="865239" y="2281083"/>
            <a:ext cx="4326194" cy="31463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59E4F-3357-034C-8FA2-8038F64068FA}"/>
              </a:ext>
            </a:extLst>
          </p:cNvPr>
          <p:cNvSpPr/>
          <p:nvPr/>
        </p:nvSpPr>
        <p:spPr>
          <a:xfrm>
            <a:off x="0" y="0"/>
            <a:ext cx="12192000" cy="14355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Top Stories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A72D87-B5F6-6D50-5476-7937A5B6167B}"/>
              </a:ext>
            </a:extLst>
          </p:cNvPr>
          <p:cNvSpPr/>
          <p:nvPr/>
        </p:nvSpPr>
        <p:spPr>
          <a:xfrm>
            <a:off x="3377381" y="1858296"/>
            <a:ext cx="5437238" cy="39132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6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3BB9D3-4B41-A416-33B6-0A2E96829992}"/>
              </a:ext>
            </a:extLst>
          </p:cNvPr>
          <p:cNvSpPr/>
          <p:nvPr/>
        </p:nvSpPr>
        <p:spPr>
          <a:xfrm>
            <a:off x="0" y="0"/>
            <a:ext cx="12192000" cy="1445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are working on!!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D5F8E2-5ECD-8645-4597-50BDC22784C1}"/>
              </a:ext>
            </a:extLst>
          </p:cNvPr>
          <p:cNvSpPr/>
          <p:nvPr/>
        </p:nvSpPr>
        <p:spPr>
          <a:xfrm>
            <a:off x="108155" y="1445343"/>
            <a:ext cx="11995355" cy="5412658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AE3699-B3E5-17E1-5686-B2FBF3113151}"/>
              </a:ext>
            </a:extLst>
          </p:cNvPr>
          <p:cNvSpPr/>
          <p:nvPr/>
        </p:nvSpPr>
        <p:spPr>
          <a:xfrm>
            <a:off x="7875638" y="2096730"/>
            <a:ext cx="4090219" cy="410988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49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4BAB4F-4169-9068-F204-A69CE71B74C8}"/>
              </a:ext>
            </a:extLst>
          </p:cNvPr>
          <p:cNvSpPr/>
          <p:nvPr/>
        </p:nvSpPr>
        <p:spPr>
          <a:xfrm>
            <a:off x="4208206" y="1209368"/>
            <a:ext cx="3775587" cy="835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JOIN the team</a:t>
            </a:r>
          </a:p>
        </p:txBody>
      </p:sp>
      <p:pic>
        <p:nvPicPr>
          <p:cNvPr id="6" name="Graphic 5" descr="Man with solid fill">
            <a:extLst>
              <a:ext uri="{FF2B5EF4-FFF2-40B4-BE49-F238E27FC236}">
                <a16:creationId xmlns:a16="http://schemas.microsoft.com/office/drawing/2014/main" id="{4EF63787-2750-13AF-8069-9DF030B91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791929"/>
            <a:ext cx="914400" cy="914400"/>
          </a:xfrm>
          <a:prstGeom prst="rect">
            <a:avLst/>
          </a:prstGeom>
        </p:spPr>
      </p:pic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3FD224EA-153D-E641-CBBB-F2D32E67CB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4376" y="3633014"/>
            <a:ext cx="914400" cy="914400"/>
          </a:xfrm>
          <a:prstGeom prst="rect">
            <a:avLst/>
          </a:prstGeom>
        </p:spPr>
      </p:pic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4A3ED19C-C420-6664-71D9-DC26EDEE1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3772" y="4812890"/>
            <a:ext cx="914400" cy="914400"/>
          </a:xfrm>
          <a:prstGeom prst="rect">
            <a:avLst/>
          </a:prstGeom>
        </p:spPr>
      </p:pic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A2A29F5C-4A79-8DAD-EC30-29DE687C6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3355" y="4812890"/>
            <a:ext cx="914400" cy="914400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FB79839C-AD54-BA78-1246-597964E63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0863" y="4810431"/>
            <a:ext cx="914400" cy="91440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7E39262C-9DD1-2B84-601D-715EFFCC4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5886" y="4820269"/>
            <a:ext cx="914400" cy="914400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2F35564A-76BB-640B-800E-73089D944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5251" y="4812890"/>
            <a:ext cx="914400" cy="914400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AECE43EE-27CA-CF5F-0C89-439E0DE183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671" y="2657168"/>
            <a:ext cx="914400" cy="914400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D945F3FC-11B6-E89D-AA17-23DD2BFFC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0968" y="2637504"/>
            <a:ext cx="914400" cy="914400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82CD9293-55F1-6764-2D8A-1A03E8928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9573" y="3603519"/>
            <a:ext cx="914400" cy="914400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80238424-4291-66FE-3ACB-550CD7810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4770" y="3571563"/>
            <a:ext cx="914400" cy="914400"/>
          </a:xfrm>
          <a:prstGeom prst="rect">
            <a:avLst/>
          </a:prstGeom>
        </p:spPr>
      </p:pic>
      <p:pic>
        <p:nvPicPr>
          <p:cNvPr id="28" name="Graphic 27" descr="Man with solid fill">
            <a:extLst>
              <a:ext uri="{FF2B5EF4-FFF2-40B4-BE49-F238E27FC236}">
                <a16:creationId xmlns:a16="http://schemas.microsoft.com/office/drawing/2014/main" id="{F4CAB6C6-F8B5-E4F6-5325-A52CE6A4E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7328" y="3605978"/>
            <a:ext cx="914400" cy="914400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19CBBDFE-6413-15C0-7660-418A01FAC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2525" y="3620729"/>
            <a:ext cx="914400" cy="914400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191EFB46-644F-1F3F-182B-9BC1B2749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3094" y="4810431"/>
            <a:ext cx="914400" cy="914400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A06CB0F6-C728-C9DA-D283-8B3B73390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8117" y="4803052"/>
            <a:ext cx="914400" cy="914400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BA89DE75-60E9-A447-246F-1C4251AC8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7728" y="2497394"/>
            <a:ext cx="914400" cy="914400"/>
          </a:xfrm>
          <a:prstGeom prst="rect">
            <a:avLst/>
          </a:prstGeom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47C81CF3-B84A-B97D-0E3A-8D96C3165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99986" y="1408471"/>
            <a:ext cx="914400" cy="914400"/>
          </a:xfrm>
          <a:prstGeom prst="rect">
            <a:avLst/>
          </a:prstGeom>
        </p:spPr>
      </p:pic>
      <p:pic>
        <p:nvPicPr>
          <p:cNvPr id="40" name="Graphic 39" descr="Man with solid fill">
            <a:extLst>
              <a:ext uri="{FF2B5EF4-FFF2-40B4-BE49-F238E27FC236}">
                <a16:creationId xmlns:a16="http://schemas.microsoft.com/office/drawing/2014/main" id="{6B1F81ED-306A-2AC6-6C36-EE2615A26D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57972" y="5211101"/>
            <a:ext cx="914400" cy="914400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AB5BA252-8E33-DD69-18E0-2BC402EA0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6274" y="3757151"/>
            <a:ext cx="914400" cy="914400"/>
          </a:xfrm>
          <a:prstGeom prst="rect">
            <a:avLst/>
          </a:prstGeom>
        </p:spPr>
      </p:pic>
      <p:pic>
        <p:nvPicPr>
          <p:cNvPr id="44" name="Graphic 43" descr="Man with solid fill">
            <a:extLst>
              <a:ext uri="{FF2B5EF4-FFF2-40B4-BE49-F238E27FC236}">
                <a16:creationId xmlns:a16="http://schemas.microsoft.com/office/drawing/2014/main" id="{1C62F50E-4622-D44E-CB8D-1287DDEA41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4266" y="4167652"/>
            <a:ext cx="914400" cy="914400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9B92423D-1E6A-B6EF-E6DF-80036E781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8021" y="4790762"/>
            <a:ext cx="914400" cy="914400"/>
          </a:xfrm>
          <a:prstGeom prst="rect">
            <a:avLst/>
          </a:prstGeom>
        </p:spPr>
      </p:pic>
      <p:pic>
        <p:nvPicPr>
          <p:cNvPr id="48" name="Graphic 47" descr="Man with solid fill">
            <a:extLst>
              <a:ext uri="{FF2B5EF4-FFF2-40B4-BE49-F238E27FC236}">
                <a16:creationId xmlns:a16="http://schemas.microsoft.com/office/drawing/2014/main" id="{BC08F9B6-74E5-2187-6C1D-3E353FEA1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4104" y="2627671"/>
            <a:ext cx="914400" cy="9144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A09BC08-A776-5D02-A630-EB4C014C89AD}"/>
              </a:ext>
            </a:extLst>
          </p:cNvPr>
          <p:cNvSpPr txBox="1"/>
          <p:nvPr/>
        </p:nvSpPr>
        <p:spPr>
          <a:xfrm>
            <a:off x="7397550" y="2804939"/>
            <a:ext cx="435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Lets get together to save our mother Earth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44F601-B983-D482-7BE8-448A84C117B6}"/>
              </a:ext>
            </a:extLst>
          </p:cNvPr>
          <p:cNvSpPr txBox="1"/>
          <p:nvPr/>
        </p:nvSpPr>
        <p:spPr>
          <a:xfrm>
            <a:off x="412955" y="265471"/>
            <a:ext cx="402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 the first, join to inspire other.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5F4AB1-4A90-13AF-6318-EF1241829236}"/>
              </a:ext>
            </a:extLst>
          </p:cNvPr>
          <p:cNvSpPr txBox="1"/>
          <p:nvPr/>
        </p:nvSpPr>
        <p:spPr>
          <a:xfrm>
            <a:off x="412955" y="3757151"/>
            <a:ext cx="401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Your one step will save your ones future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C511E2-C75B-FF9D-DBE0-88FB31B51D5F}"/>
              </a:ext>
            </a:extLst>
          </p:cNvPr>
          <p:cNvSpPr txBox="1"/>
          <p:nvPr/>
        </p:nvSpPr>
        <p:spPr>
          <a:xfrm>
            <a:off x="7800674" y="117987"/>
            <a:ext cx="304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Let our future breathe a relief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7BB861-DA31-EBF0-17E6-B37EC46C20CA}"/>
              </a:ext>
            </a:extLst>
          </p:cNvPr>
          <p:cNvSpPr txBox="1"/>
          <p:nvPr/>
        </p:nvSpPr>
        <p:spPr>
          <a:xfrm>
            <a:off x="2163726" y="1975660"/>
            <a:ext cx="387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right are not only for humans</a:t>
            </a:r>
          </a:p>
        </p:txBody>
      </p:sp>
    </p:spTree>
    <p:extLst>
      <p:ext uri="{BB962C8B-B14F-4D97-AF65-F5344CB8AC3E}">
        <p14:creationId xmlns:p14="http://schemas.microsoft.com/office/powerpoint/2010/main" val="149862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650F1C-2D42-FB75-6DC1-CE7FA09CABBB}"/>
              </a:ext>
            </a:extLst>
          </p:cNvPr>
          <p:cNvSpPr/>
          <p:nvPr/>
        </p:nvSpPr>
        <p:spPr>
          <a:xfrm>
            <a:off x="2959511" y="1684758"/>
            <a:ext cx="6518787" cy="200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9846A-59CF-0C06-1057-1C608289A082}"/>
              </a:ext>
            </a:extLst>
          </p:cNvPr>
          <p:cNvSpPr txBox="1"/>
          <p:nvPr/>
        </p:nvSpPr>
        <p:spPr>
          <a:xfrm>
            <a:off x="1887795" y="511277"/>
            <a:ext cx="8809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 Seed =  1000 of fruits for generations!</a:t>
            </a:r>
            <a:br>
              <a:rPr lang="en-IN" dirty="0"/>
            </a:br>
            <a:r>
              <a:rPr lang="en-IN" dirty="0"/>
              <a:t>Invest now</a:t>
            </a:r>
          </a:p>
        </p:txBody>
      </p:sp>
    </p:spTree>
    <p:extLst>
      <p:ext uri="{BB962C8B-B14F-4D97-AF65-F5344CB8AC3E}">
        <p14:creationId xmlns:p14="http://schemas.microsoft.com/office/powerpoint/2010/main" val="2809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3101-7BD5-4EE0-ABF3-2644150A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Get into the competitions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8B0E2A-544C-C344-5DC9-F489C026F89F}"/>
              </a:ext>
            </a:extLst>
          </p:cNvPr>
          <p:cNvSpPr/>
          <p:nvPr/>
        </p:nvSpPr>
        <p:spPr>
          <a:xfrm>
            <a:off x="1283110" y="1886564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5199C4-0814-C91D-3402-F32CF3C7A10C}"/>
              </a:ext>
            </a:extLst>
          </p:cNvPr>
          <p:cNvSpPr/>
          <p:nvPr/>
        </p:nvSpPr>
        <p:spPr>
          <a:xfrm>
            <a:off x="4513007" y="1917290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96D11F-7B63-0469-A82D-6C9B2F770334}"/>
              </a:ext>
            </a:extLst>
          </p:cNvPr>
          <p:cNvSpPr/>
          <p:nvPr/>
        </p:nvSpPr>
        <p:spPr>
          <a:xfrm>
            <a:off x="7801897" y="1917290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033944-6A8F-E289-0540-1C6BB450C321}"/>
              </a:ext>
            </a:extLst>
          </p:cNvPr>
          <p:cNvSpPr/>
          <p:nvPr/>
        </p:nvSpPr>
        <p:spPr>
          <a:xfrm>
            <a:off x="1728020" y="3624876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14DD95-1DF3-BB3B-1630-573A8C4D100D}"/>
              </a:ext>
            </a:extLst>
          </p:cNvPr>
          <p:cNvSpPr/>
          <p:nvPr/>
        </p:nvSpPr>
        <p:spPr>
          <a:xfrm>
            <a:off x="4957917" y="3655602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9D7882-F9AE-7873-5767-98AB7BC389A3}"/>
              </a:ext>
            </a:extLst>
          </p:cNvPr>
          <p:cNvSpPr/>
          <p:nvPr/>
        </p:nvSpPr>
        <p:spPr>
          <a:xfrm>
            <a:off x="8246807" y="3655602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725D3B-E9E3-BDFB-9EED-A999C6973407}"/>
              </a:ext>
            </a:extLst>
          </p:cNvPr>
          <p:cNvSpPr/>
          <p:nvPr/>
        </p:nvSpPr>
        <p:spPr>
          <a:xfrm>
            <a:off x="1283110" y="5315564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44325A-78B0-2B12-06EB-2C3DA9E9DDDD}"/>
              </a:ext>
            </a:extLst>
          </p:cNvPr>
          <p:cNvSpPr/>
          <p:nvPr/>
        </p:nvSpPr>
        <p:spPr>
          <a:xfrm>
            <a:off x="4542503" y="5315564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8556A4-0055-327B-58B9-57B7D995A1FD}"/>
              </a:ext>
            </a:extLst>
          </p:cNvPr>
          <p:cNvSpPr/>
          <p:nvPr/>
        </p:nvSpPr>
        <p:spPr>
          <a:xfrm>
            <a:off x="7801897" y="5326626"/>
            <a:ext cx="3106993" cy="1511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30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443A-A35F-340D-33D3-2A0CD4B581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dirty="0"/>
              <a:t>Our initiative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D2618F07-3ACC-4565-6425-DDD763C5A012}"/>
              </a:ext>
            </a:extLst>
          </p:cNvPr>
          <p:cNvSpPr/>
          <p:nvPr/>
        </p:nvSpPr>
        <p:spPr>
          <a:xfrm>
            <a:off x="4572000" y="462116"/>
            <a:ext cx="3048000" cy="5034116"/>
          </a:xfrm>
          <a:prstGeom prst="triangle">
            <a:avLst/>
          </a:prstGeom>
          <a:solidFill>
            <a:srgbClr val="6633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0D2392-F981-5F3D-ECE7-304BB5A8B8E7}"/>
              </a:ext>
            </a:extLst>
          </p:cNvPr>
          <p:cNvSpPr/>
          <p:nvPr/>
        </p:nvSpPr>
        <p:spPr>
          <a:xfrm>
            <a:off x="4661110" y="109394"/>
            <a:ext cx="2869780" cy="286978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7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7379EF-4F55-FA73-37BB-A050BF5456AA}"/>
              </a:ext>
            </a:extLst>
          </p:cNvPr>
          <p:cNvSpPr/>
          <p:nvPr/>
        </p:nvSpPr>
        <p:spPr>
          <a:xfrm>
            <a:off x="3795252" y="661139"/>
            <a:ext cx="11287432" cy="58993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Picture 1" descr="Maharashtra clears 83,700 sq ft forest land for 2 Adani Group projects">
            <a:extLst>
              <a:ext uri="{FF2B5EF4-FFF2-40B4-BE49-F238E27FC236}">
                <a16:creationId xmlns:a16="http://schemas.microsoft.com/office/drawing/2014/main" id="{282E7431-96F5-F147-E765-D69286DE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2635125"/>
            <a:ext cx="6331975" cy="3561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6AF54C-5AA2-F92C-B1CA-E547AAAA25AA}"/>
              </a:ext>
            </a:extLst>
          </p:cNvPr>
          <p:cNvSpPr txBox="1"/>
          <p:nvPr/>
        </p:nvSpPr>
        <p:spPr>
          <a:xfrm>
            <a:off x="924233" y="899037"/>
            <a:ext cx="598784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>
              <a:lnSpc>
                <a:spcPts val="3750"/>
              </a:lnSpc>
              <a:buNone/>
            </a:pPr>
            <a:r>
              <a:rPr lang="en-IN" sz="3375" b="1" i="0" spc="-2" dirty="0">
                <a:solidFill>
                  <a:srgbClr val="000000"/>
                </a:solidFill>
                <a:effectLst/>
                <a:latin typeface="PT Serif" panose="020F0502020204030204" pitchFamily="18" charset="0"/>
              </a:rPr>
              <a:t>Maharashtra clears 83,700 </a:t>
            </a:r>
            <a:r>
              <a:rPr lang="en-IN" sz="3375" b="1" i="0" spc="-2" dirty="0" err="1">
                <a:solidFill>
                  <a:srgbClr val="000000"/>
                </a:solidFill>
                <a:effectLst/>
                <a:latin typeface="PT Serif" panose="020F0502020204030204" pitchFamily="18" charset="0"/>
              </a:rPr>
              <a:t>sq</a:t>
            </a:r>
            <a:r>
              <a:rPr lang="en-IN" sz="3375" b="1" i="0" spc="-2" dirty="0">
                <a:solidFill>
                  <a:srgbClr val="000000"/>
                </a:solidFill>
                <a:effectLst/>
                <a:latin typeface="PT Serif" panose="020F0502020204030204" pitchFamily="18" charset="0"/>
              </a:rPr>
              <a:t> ft forest land for 2 Adani Group projects.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B619C-DC57-59AA-9AC5-56E7A5C5E042}"/>
              </a:ext>
            </a:extLst>
          </p:cNvPr>
          <p:cNvSpPr txBox="1"/>
          <p:nvPr/>
        </p:nvSpPr>
        <p:spPr>
          <a:xfrm>
            <a:off x="7266039" y="2648458"/>
            <a:ext cx="3962400" cy="141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ts val="2100"/>
              </a:lnSpc>
              <a:buNone/>
            </a:pPr>
            <a:r>
              <a:rPr lang="en-IN" sz="1350" b="0" i="0" spc="-2" dirty="0">
                <a:effectLst/>
                <a:latin typeface="PT Serif" panose="020A0603040505020204" pitchFamily="18" charset="0"/>
              </a:rPr>
              <a:t>Nearly 70,000 </a:t>
            </a:r>
            <a:r>
              <a:rPr lang="en-IN" sz="1350" b="0" i="0" spc="-2" dirty="0" err="1">
                <a:effectLst/>
                <a:latin typeface="PT Serif" panose="020A0603040505020204" pitchFamily="18" charset="0"/>
              </a:rPr>
              <a:t>sq</a:t>
            </a:r>
            <a:r>
              <a:rPr lang="en-IN" sz="1350" b="0" i="0" spc="-2" dirty="0">
                <a:effectLst/>
                <a:latin typeface="PT Serif" panose="020A0603040505020204" pitchFamily="18" charset="0"/>
              </a:rPr>
              <a:t> ft includes reserved forest and mangrove land in Raigad for Adani Cementation’s proposed cement terminal; another 13,800 </a:t>
            </a:r>
            <a:r>
              <a:rPr lang="en-IN" sz="1350" b="0" i="0" spc="-2" dirty="0" err="1">
                <a:effectLst/>
                <a:latin typeface="PT Serif" panose="020A0603040505020204" pitchFamily="18" charset="0"/>
              </a:rPr>
              <a:t>sq</a:t>
            </a:r>
            <a:r>
              <a:rPr lang="en-IN" sz="1350" b="0" i="0" spc="-2" dirty="0">
                <a:effectLst/>
                <a:latin typeface="PT Serif" panose="020A0603040505020204" pitchFamily="18" charset="0"/>
              </a:rPr>
              <a:t> ft of forest land cleared for a gas pipeline in Amravati.</a:t>
            </a:r>
          </a:p>
        </p:txBody>
      </p:sp>
    </p:spTree>
    <p:extLst>
      <p:ext uri="{BB962C8B-B14F-4D97-AF65-F5344CB8AC3E}">
        <p14:creationId xmlns:p14="http://schemas.microsoft.com/office/powerpoint/2010/main" val="4242360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2CD5286-B3F0-5889-ADD8-55A48A7F6450}"/>
              </a:ext>
            </a:extLst>
          </p:cNvPr>
          <p:cNvSpPr/>
          <p:nvPr/>
        </p:nvSpPr>
        <p:spPr>
          <a:xfrm>
            <a:off x="737419" y="825910"/>
            <a:ext cx="10785987" cy="5338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28D364-BC35-CAFB-3281-8E71B8FCB567}"/>
              </a:ext>
            </a:extLst>
          </p:cNvPr>
          <p:cNvSpPr/>
          <p:nvPr/>
        </p:nvSpPr>
        <p:spPr>
          <a:xfrm>
            <a:off x="7020232" y="5568590"/>
            <a:ext cx="433198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B1096-C44B-37C5-CD75-61D60350F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2800" spc="-2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Nearly 70,000 </a:t>
            </a:r>
            <a:r>
              <a:rPr lang="en-IN" sz="2800" spc="-2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sq</a:t>
            </a:r>
            <a:r>
              <a:rPr lang="en-IN" sz="2800" spc="-2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ft includes reserved forest and mangrove land in Raigad for Adani Cementation’s proposed cement terminal; another 13,800 </a:t>
            </a:r>
            <a:r>
              <a:rPr lang="en-IN" sz="2800" spc="-2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sq</a:t>
            </a:r>
            <a:r>
              <a:rPr lang="en-IN" sz="2800" spc="-2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ft of forest land cleared for a gas pipeline in Amravati.</a:t>
            </a:r>
          </a:p>
          <a:p>
            <a:endParaRPr lang="en-IN" dirty="0"/>
          </a:p>
        </p:txBody>
      </p:sp>
      <p:pic>
        <p:nvPicPr>
          <p:cNvPr id="8" name="Content Placeholder 7" descr="Maharashtra clears 83,700 sq ft forest land for 2 Adani Group projects">
            <a:extLst>
              <a:ext uri="{FF2B5EF4-FFF2-40B4-BE49-F238E27FC236}">
                <a16:creationId xmlns:a16="http://schemas.microsoft.com/office/drawing/2014/main" id="{8020873C-C726-3845-1C58-214BF9EE2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0012" y="2057400"/>
            <a:ext cx="6172200" cy="34718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1F58EF-BA16-1AEC-11E3-135140FC90E8}"/>
              </a:ext>
            </a:extLst>
          </p:cNvPr>
          <p:cNvSpPr txBox="1"/>
          <p:nvPr/>
        </p:nvSpPr>
        <p:spPr>
          <a:xfrm>
            <a:off x="924233" y="899037"/>
            <a:ext cx="10427979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>
              <a:lnSpc>
                <a:spcPts val="3750"/>
              </a:lnSpc>
              <a:buNone/>
            </a:pPr>
            <a:r>
              <a:rPr lang="en-IN" sz="3375" b="1" i="0" spc="-2" dirty="0">
                <a:solidFill>
                  <a:srgbClr val="000000"/>
                </a:solidFill>
                <a:effectLst/>
                <a:latin typeface="PT Serif" panose="020F0502020204030204" pitchFamily="18" charset="0"/>
              </a:rPr>
              <a:t>Maharashtra(India) clears 83,700 </a:t>
            </a:r>
            <a:r>
              <a:rPr lang="en-IN" sz="3375" b="1" i="0" spc="-2" dirty="0" err="1">
                <a:solidFill>
                  <a:srgbClr val="000000"/>
                </a:solidFill>
                <a:effectLst/>
                <a:latin typeface="PT Serif" panose="020F0502020204030204" pitchFamily="18" charset="0"/>
              </a:rPr>
              <a:t>sq</a:t>
            </a:r>
            <a:r>
              <a:rPr lang="en-IN" sz="3375" b="1" i="0" spc="-2" dirty="0">
                <a:solidFill>
                  <a:srgbClr val="000000"/>
                </a:solidFill>
                <a:effectLst/>
                <a:latin typeface="PT Serif" panose="020F0502020204030204" pitchFamily="18" charset="0"/>
              </a:rPr>
              <a:t> ft forest land for 2 Adani Group projects.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F24217-03DC-AF61-BFA5-4E7D6A5BFF66}"/>
              </a:ext>
            </a:extLst>
          </p:cNvPr>
          <p:cNvSpPr txBox="1"/>
          <p:nvPr/>
        </p:nvSpPr>
        <p:spPr>
          <a:xfrm>
            <a:off x="7020232" y="5589631"/>
            <a:ext cx="4331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By: Express News Service Mumbai Aug 11, 2026 07:00 AM IST</a:t>
            </a:r>
          </a:p>
        </p:txBody>
      </p:sp>
    </p:spTree>
    <p:extLst>
      <p:ext uri="{BB962C8B-B14F-4D97-AF65-F5344CB8AC3E}">
        <p14:creationId xmlns:p14="http://schemas.microsoft.com/office/powerpoint/2010/main" val="173494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0AA67A-6BF0-3107-AF11-469D055F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855" y="2401741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Century Gothic" panose="020B0502020202020204" pitchFamily="34" charset="0"/>
              </a:rPr>
              <a:t>Local Voice</a:t>
            </a:r>
            <a:endParaRPr lang="en-IN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7F8648-32F2-5147-C4CC-94C198567F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545" y="1560013"/>
            <a:ext cx="5356457" cy="262637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D0F6F26-E05D-898C-D9AB-E7CBCBF244DC}"/>
              </a:ext>
            </a:extLst>
          </p:cNvPr>
          <p:cNvSpPr txBox="1">
            <a:spLocks/>
          </p:cNvSpPr>
          <p:nvPr/>
        </p:nvSpPr>
        <p:spPr>
          <a:xfrm>
            <a:off x="2857500" y="2132660"/>
            <a:ext cx="4842163" cy="538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>
                <a:solidFill>
                  <a:srgbClr val="3300FF"/>
                </a:solidFill>
                <a:latin typeface="Century Gothic" panose="020B0502020202020204" pitchFamily="34" charset="0"/>
              </a:rPr>
              <a:t>COMMUNITY CONNECT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9C534-B2D6-B9A5-E3E3-FF1872CAE872}"/>
              </a:ext>
            </a:extLst>
          </p:cNvPr>
          <p:cNvSpPr txBox="1"/>
          <p:nvPr/>
        </p:nvSpPr>
        <p:spPr>
          <a:xfrm>
            <a:off x="7574971" y="2249535"/>
            <a:ext cx="142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3300FF"/>
                </a:solidFill>
              </a:rPr>
              <a:t>‘s</a:t>
            </a:r>
            <a:endParaRPr lang="en-IN" dirty="0">
              <a:solidFill>
                <a:srgbClr val="33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01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56032F-2DE6-7B68-7AD0-5EAED9371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87" y="2092187"/>
            <a:ext cx="5341335" cy="26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3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189</Words>
  <Application>Microsoft Office PowerPoint</Application>
  <PresentationFormat>Widescreen</PresentationFormat>
  <Paragraphs>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Arabic Typesetting</vt:lpstr>
      <vt:lpstr>Arial</vt:lpstr>
      <vt:lpstr>Calibri</vt:lpstr>
      <vt:lpstr>Calibri Light</vt:lpstr>
      <vt:lpstr>Century Gothic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Get into the competitions</vt:lpstr>
      <vt:lpstr>Our initiative</vt:lpstr>
      <vt:lpstr>PowerPoint Presentation</vt:lpstr>
      <vt:lpstr>PowerPoint Presentation</vt:lpstr>
      <vt:lpstr>Local Voice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 OFFICIALS</dc:creator>
  <cp:lastModifiedBy>AK OFFICIALS</cp:lastModifiedBy>
  <cp:revision>4</cp:revision>
  <dcterms:created xsi:type="dcterms:W3CDTF">2026-08-05T06:39:57Z</dcterms:created>
  <dcterms:modified xsi:type="dcterms:W3CDTF">2026-08-17T06:34:50Z</dcterms:modified>
</cp:coreProperties>
</file>